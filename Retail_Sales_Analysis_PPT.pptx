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 id="258" r:id="rId6"/>
    <p:sldId id="259" r:id="rId7"/>
    <p:sldId id="264" r:id="rId8"/>
    <p:sldId id="265" r:id="rId9"/>
    <p:sldId id="260"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DD4A-A467-28AA-4E1A-1DCEC0E644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5F02ED-F9F8-AC8F-9375-B340607580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FC8F1E-9ED5-C8D1-07C4-458312FC1A2C}"/>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C835E8B6-0851-0DBB-A191-0E34ECFB3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C45AD8-279B-EB3B-D0DC-2534334CD4C4}"/>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4287355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3684-F01D-A1FD-9A0E-130722851B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8A263F-A4FF-5AF3-4613-5895565CB1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D0FDC5-3635-D925-466E-85B28484DC6E}"/>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DE07D310-6548-9448-95DB-D81590AF3B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ECF31A-C4B6-2BA9-6362-FC25198A77DB}"/>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94889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CCBE6-807E-79E8-EE2C-D5F99153E0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24FA40-46D5-FA85-E9A0-2FFA018FB1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41FAB5-64AB-C917-D3B9-134AE3A7A291}"/>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E132CD1C-CAF2-32A5-E4B6-01C34B4EFF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82BD4D-9888-EF32-FAD8-F395C59440E6}"/>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207057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9A31-EA23-88F3-085E-32B6171962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A56C84-E5EC-10E0-1E49-0BE604CDD6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4AA76-CEA9-5824-F89F-6DC18108AD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B97961-DFB4-33C8-7DFD-C32EBCC02153}"/>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6" name="Footer Placeholder 5">
            <a:extLst>
              <a:ext uri="{FF2B5EF4-FFF2-40B4-BE49-F238E27FC236}">
                <a16:creationId xmlns:a16="http://schemas.microsoft.com/office/drawing/2014/main" id="{3C7EFCBB-79B1-6D4C-F014-5D69BC380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DE23F9-49FF-9AEA-0924-E882C7CBFB9E}"/>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2411017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B59B-8C0A-8DD4-F0D7-9BF4FB1A1F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258CFB-91B5-DB15-E87B-CAAE9F3C3F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E30BD-093A-C325-6C58-18359CCBCF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921562-DD80-9E36-CEF1-F2E5C21FE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5D0346-576C-D6B9-7C73-B975DE520D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C0730E-EBAC-16C6-DDED-296046416929}"/>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8" name="Footer Placeholder 7">
            <a:extLst>
              <a:ext uri="{FF2B5EF4-FFF2-40B4-BE49-F238E27FC236}">
                <a16:creationId xmlns:a16="http://schemas.microsoft.com/office/drawing/2014/main" id="{902B831F-8E73-DDA0-2B9C-4AF89C0792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D2719B-C395-CB70-3E0E-55DDB809400B}"/>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2928130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A0C0-42CA-1183-405D-AF74F3CB97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4FEB73-EC55-D131-D3C5-D7D89399CE88}"/>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4" name="Footer Placeholder 3">
            <a:extLst>
              <a:ext uri="{FF2B5EF4-FFF2-40B4-BE49-F238E27FC236}">
                <a16:creationId xmlns:a16="http://schemas.microsoft.com/office/drawing/2014/main" id="{70162F47-25FF-44A3-F8C7-E85D936A4D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827656-51E5-17D3-8CFE-55CD96EEE762}"/>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1103235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D60B9C-4877-8B4B-485B-300DA67A6C72}"/>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3" name="Footer Placeholder 2">
            <a:extLst>
              <a:ext uri="{FF2B5EF4-FFF2-40B4-BE49-F238E27FC236}">
                <a16:creationId xmlns:a16="http://schemas.microsoft.com/office/drawing/2014/main" id="{53B01655-2567-F14C-E603-D164BD42A7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C069A7-330A-FCA5-83EA-8750BD55AF89}"/>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17746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6B36D-F5D9-CACB-D3D9-D5F4C370B2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37FBAD-5499-9518-F479-D5B20B343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DE6EEF-522F-4E94-7CA8-9DE994995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7854E-45C5-13D8-9C1E-43E08207A19E}"/>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6" name="Footer Placeholder 5">
            <a:extLst>
              <a:ext uri="{FF2B5EF4-FFF2-40B4-BE49-F238E27FC236}">
                <a16:creationId xmlns:a16="http://schemas.microsoft.com/office/drawing/2014/main" id="{3F6F6E19-A3CD-4562-8DE4-B5327505E5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D4FE14-7FDA-E499-50F4-A069203C41B4}"/>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375005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38564-5CAA-C667-CFC0-0E5BC214A3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3A71EB-0D6F-CFDA-39BA-C4E8E2A93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9837BB-0956-B202-56A8-6CF76F331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E6E9E-5858-1D13-E311-876E02AB7C49}"/>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6" name="Footer Placeholder 5">
            <a:extLst>
              <a:ext uri="{FF2B5EF4-FFF2-40B4-BE49-F238E27FC236}">
                <a16:creationId xmlns:a16="http://schemas.microsoft.com/office/drawing/2014/main" id="{E76F0CE8-F7B5-CF15-DBB4-656FFC2792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60B5F8-0D12-75D1-E13F-004640649A94}"/>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3210136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641A5-552D-A058-BF37-9163F2AE5F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38507B-D222-CEAC-10EC-5142313074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118F26-A08F-63B7-623B-ABDDFF982310}"/>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BDE5133E-C0B6-EF99-CC87-92E7B6E991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8988D-6B68-CA9C-A7FD-AF835EE1243C}"/>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2206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F0A473-C999-7217-ADF5-D68C78F0D7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2BCD9D-2BBF-C664-00AE-A02BDDB00C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49900C-6143-0424-B727-D2457A0E81D8}"/>
              </a:ext>
            </a:extLst>
          </p:cNvPr>
          <p:cNvSpPr>
            <a:spLocks noGrp="1"/>
          </p:cNvSpPr>
          <p:nvPr>
            <p:ph type="dt" sz="half" idx="10"/>
          </p:nvPr>
        </p:nvSpPr>
        <p:spPr/>
        <p:txBody>
          <a:body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B4DAD913-50A0-996B-5CF5-EE71259B2F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1FF91E-86AD-FEC6-6754-29EF45C8E71B}"/>
              </a:ext>
            </a:extLst>
          </p:cNvPr>
          <p:cNvSpPr>
            <a:spLocks noGrp="1"/>
          </p:cNvSpPr>
          <p:nvPr>
            <p:ph type="sldNum" sz="quarter" idx="12"/>
          </p:nvPr>
        </p:nvSpPr>
        <p:spPr/>
        <p:txBody>
          <a:bodyPr/>
          <a:lstStyle/>
          <a:p>
            <a:fld id="{283A7CC2-7493-4A82-9F99-45E70281D8E7}" type="slidenum">
              <a:rPr lang="en-IN" smtClean="0"/>
              <a:t>‹#›</a:t>
            </a:fld>
            <a:endParaRPr lang="en-IN"/>
          </a:p>
        </p:txBody>
      </p:sp>
    </p:spTree>
    <p:extLst>
      <p:ext uri="{BB962C8B-B14F-4D97-AF65-F5344CB8AC3E}">
        <p14:creationId xmlns:p14="http://schemas.microsoft.com/office/powerpoint/2010/main" val="291313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12D801-5255-8188-CCE4-BB1C67B2EB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B09BE2-5245-D9D3-49A3-D8CE1BCC28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222C27-E78D-EB3D-2D3D-2D0C99F1CA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286C55-58BA-4828-93EB-FD6B26EB833D}" type="datetimeFigureOut">
              <a:rPr lang="en-IN" smtClean="0"/>
              <a:t>09-11-2025</a:t>
            </a:fld>
            <a:endParaRPr lang="en-IN"/>
          </a:p>
        </p:txBody>
      </p:sp>
      <p:sp>
        <p:nvSpPr>
          <p:cNvPr id="5" name="Footer Placeholder 4">
            <a:extLst>
              <a:ext uri="{FF2B5EF4-FFF2-40B4-BE49-F238E27FC236}">
                <a16:creationId xmlns:a16="http://schemas.microsoft.com/office/drawing/2014/main" id="{7C3177D0-D489-3CF9-E6DB-ADD0EE7AAC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29B16D-0DC9-54B6-F531-4184A3559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3A7CC2-7493-4A82-9F99-45E70281D8E7}" type="slidenum">
              <a:rPr lang="en-IN" smtClean="0"/>
              <a:t>‹#›</a:t>
            </a:fld>
            <a:endParaRPr lang="en-IN"/>
          </a:p>
        </p:txBody>
      </p:sp>
    </p:spTree>
    <p:extLst>
      <p:ext uri="{BB962C8B-B14F-4D97-AF65-F5344CB8AC3E}">
        <p14:creationId xmlns:p14="http://schemas.microsoft.com/office/powerpoint/2010/main" val="3192836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0F2BB-67B9-688E-0A4A-F201C8B4D133}"/>
              </a:ext>
            </a:extLst>
          </p:cNvPr>
          <p:cNvSpPr>
            <a:spLocks noGrp="1"/>
          </p:cNvSpPr>
          <p:nvPr>
            <p:ph type="ctrTitle"/>
          </p:nvPr>
        </p:nvSpPr>
        <p:spPr>
          <a:xfrm>
            <a:off x="1524000" y="586409"/>
            <a:ext cx="9144000" cy="2266121"/>
          </a:xfrm>
        </p:spPr>
        <p:txBody>
          <a:bodyPr>
            <a:normAutofit/>
          </a:bodyPr>
          <a:lstStyle/>
          <a:p>
            <a:r>
              <a:rPr lang="en-US" sz="3600" b="1" dirty="0">
                <a:latin typeface="Book Antiqua" panose="02040602050305030304" pitchFamily="18" charset="0"/>
              </a:rPr>
              <a:t>Retail Sales Analysis: Identifying Top Products and Market Patterns</a:t>
            </a:r>
            <a:endParaRPr lang="en-IN" sz="3600" b="1" dirty="0">
              <a:latin typeface="Book Antiqua" panose="02040602050305030304" pitchFamily="18" charset="0"/>
            </a:endParaRPr>
          </a:p>
        </p:txBody>
      </p:sp>
      <p:sp>
        <p:nvSpPr>
          <p:cNvPr id="3" name="Subtitle 2">
            <a:extLst>
              <a:ext uri="{FF2B5EF4-FFF2-40B4-BE49-F238E27FC236}">
                <a16:creationId xmlns:a16="http://schemas.microsoft.com/office/drawing/2014/main" id="{0F70AFF7-06C1-FBCC-F225-1A1E37C1D27C}"/>
              </a:ext>
            </a:extLst>
          </p:cNvPr>
          <p:cNvSpPr>
            <a:spLocks noGrp="1"/>
          </p:cNvSpPr>
          <p:nvPr>
            <p:ph type="subTitle" idx="1"/>
          </p:nvPr>
        </p:nvSpPr>
        <p:spPr>
          <a:xfrm>
            <a:off x="1524000" y="3192497"/>
            <a:ext cx="9144000" cy="492884"/>
          </a:xfrm>
        </p:spPr>
        <p:txBody>
          <a:bodyPr>
            <a:normAutofit/>
          </a:bodyPr>
          <a:lstStyle/>
          <a:p>
            <a:r>
              <a:rPr lang="en-US" sz="2800" b="1" dirty="0">
                <a:solidFill>
                  <a:schemeClr val="accent1">
                    <a:lumMod val="75000"/>
                  </a:schemeClr>
                </a:solidFill>
              </a:rPr>
              <a:t>BY :- Nitin </a:t>
            </a:r>
            <a:r>
              <a:rPr lang="en-US" sz="2800" b="1" dirty="0" err="1">
                <a:solidFill>
                  <a:schemeClr val="accent1">
                    <a:lumMod val="75000"/>
                  </a:schemeClr>
                </a:solidFill>
              </a:rPr>
              <a:t>Dukare</a:t>
            </a:r>
            <a:r>
              <a:rPr lang="en-US" sz="2800" b="1" dirty="0">
                <a:solidFill>
                  <a:schemeClr val="accent1">
                    <a:lumMod val="75000"/>
                  </a:schemeClr>
                </a:solidFill>
              </a:rPr>
              <a:t> </a:t>
            </a:r>
            <a:r>
              <a:rPr lang="en-IN" sz="2800" b="1" dirty="0">
                <a:solidFill>
                  <a:schemeClr val="accent1">
                    <a:lumMod val="75000"/>
                  </a:schemeClr>
                </a:solidFill>
              </a:rPr>
              <a:t>(Certified Data Analyst)</a:t>
            </a:r>
            <a:endParaRPr lang="en-US" sz="2800" b="1" dirty="0">
              <a:solidFill>
                <a:schemeClr val="accent1">
                  <a:lumMod val="75000"/>
                </a:schemeClr>
              </a:solidFill>
            </a:endParaRPr>
          </a:p>
        </p:txBody>
      </p:sp>
      <p:sp>
        <p:nvSpPr>
          <p:cNvPr id="5" name="Equals 4">
            <a:extLst>
              <a:ext uri="{FF2B5EF4-FFF2-40B4-BE49-F238E27FC236}">
                <a16:creationId xmlns:a16="http://schemas.microsoft.com/office/drawing/2014/main" id="{CD45D697-2E87-052B-B2F2-3A2667B476F6}"/>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49791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6F55-174B-90A8-E804-12A8D891E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CF915-47D9-249D-B799-24B2FA266FF3}"/>
              </a:ext>
            </a:extLst>
          </p:cNvPr>
          <p:cNvSpPr>
            <a:spLocks noGrp="1"/>
          </p:cNvSpPr>
          <p:nvPr>
            <p:ph type="title"/>
          </p:nvPr>
        </p:nvSpPr>
        <p:spPr>
          <a:xfrm>
            <a:off x="947530" y="1388856"/>
            <a:ext cx="10515600" cy="1325563"/>
          </a:xfrm>
        </p:spPr>
        <p:txBody>
          <a:bodyPr>
            <a:normAutofit/>
          </a:bodyPr>
          <a:lstStyle/>
          <a:p>
            <a:r>
              <a:rPr lang="en-US" sz="3200" b="1" dirty="0" err="1">
                <a:latin typeface="+mn-lt"/>
              </a:rPr>
              <a:t>Bussines</a:t>
            </a:r>
            <a:r>
              <a:rPr lang="en-US" sz="3200" b="1" dirty="0">
                <a:latin typeface="+mn-lt"/>
              </a:rPr>
              <a:t> Problem :- </a:t>
            </a:r>
            <a:endParaRPr lang="en-IN" sz="3200" dirty="0"/>
          </a:p>
        </p:txBody>
      </p:sp>
      <p:sp>
        <p:nvSpPr>
          <p:cNvPr id="3" name="Content Placeholder 2">
            <a:extLst>
              <a:ext uri="{FF2B5EF4-FFF2-40B4-BE49-F238E27FC236}">
                <a16:creationId xmlns:a16="http://schemas.microsoft.com/office/drawing/2014/main" id="{9AECB4B3-77AA-A8BC-C45A-D4FC9C25B3CF}"/>
              </a:ext>
            </a:extLst>
          </p:cNvPr>
          <p:cNvSpPr>
            <a:spLocks noGrp="1"/>
          </p:cNvSpPr>
          <p:nvPr>
            <p:ph idx="1"/>
          </p:nvPr>
        </p:nvSpPr>
        <p:spPr>
          <a:xfrm>
            <a:off x="1295400" y="2362338"/>
            <a:ext cx="10515600" cy="2487958"/>
          </a:xfrm>
        </p:spPr>
        <p:txBody>
          <a:bodyPr/>
          <a:lstStyle/>
          <a:p>
            <a:pPr marL="0" indent="0">
              <a:buNone/>
            </a:pPr>
            <a:r>
              <a:rPr lang="en-US" b="1" dirty="0"/>
              <a:t> </a:t>
            </a:r>
            <a:r>
              <a:rPr lang="en-US" dirty="0"/>
              <a:t>A retail company wants to maximize sales and profitability by identifying top-performing products, sub-categories, and categories. It also aims to analyze regional sales trends across regions, states, and cities, and detect seasonal patterns using order and shipping dates. The goal is to optimize inventory, marketing, and overall business strategy based on these insights.</a:t>
            </a:r>
            <a:endParaRPr lang="en-IN" dirty="0"/>
          </a:p>
        </p:txBody>
      </p:sp>
      <p:sp>
        <p:nvSpPr>
          <p:cNvPr id="6" name="Equals 5">
            <a:extLst>
              <a:ext uri="{FF2B5EF4-FFF2-40B4-BE49-F238E27FC236}">
                <a16:creationId xmlns:a16="http://schemas.microsoft.com/office/drawing/2014/main" id="{9DB4F015-2165-E45F-669B-9D9977A80006}"/>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249613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3317-3E0E-D9EA-222C-5E8318000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E3784-D202-2214-9483-7372B0ADDEBD}"/>
              </a:ext>
            </a:extLst>
          </p:cNvPr>
          <p:cNvSpPr>
            <a:spLocks noGrp="1"/>
          </p:cNvSpPr>
          <p:nvPr>
            <p:ph type="title"/>
          </p:nvPr>
        </p:nvSpPr>
        <p:spPr>
          <a:xfrm>
            <a:off x="907774" y="1031047"/>
            <a:ext cx="10515600" cy="1205258"/>
          </a:xfrm>
        </p:spPr>
        <p:txBody>
          <a:bodyPr>
            <a:normAutofit/>
          </a:bodyPr>
          <a:lstStyle/>
          <a:p>
            <a:r>
              <a:rPr lang="en-US" sz="2800" b="1" dirty="0">
                <a:latin typeface="+mn-lt"/>
              </a:rPr>
              <a:t>Data Cleaning </a:t>
            </a:r>
            <a:r>
              <a:rPr lang="en-US" sz="2800" b="1" dirty="0"/>
              <a:t>–</a:t>
            </a:r>
            <a:br>
              <a:rPr lang="en-US" sz="2800" b="1" dirty="0"/>
            </a:br>
            <a:endParaRPr lang="en-IN" sz="2800" b="1" dirty="0"/>
          </a:p>
        </p:txBody>
      </p:sp>
      <p:sp>
        <p:nvSpPr>
          <p:cNvPr id="3" name="Content Placeholder 2">
            <a:extLst>
              <a:ext uri="{FF2B5EF4-FFF2-40B4-BE49-F238E27FC236}">
                <a16:creationId xmlns:a16="http://schemas.microsoft.com/office/drawing/2014/main" id="{840960CB-77C0-8391-4A61-9C41D3D6D84B}"/>
              </a:ext>
            </a:extLst>
          </p:cNvPr>
          <p:cNvSpPr>
            <a:spLocks noGrp="1"/>
          </p:cNvSpPr>
          <p:nvPr>
            <p:ph idx="1"/>
          </p:nvPr>
        </p:nvSpPr>
        <p:spPr/>
        <p:txBody>
          <a:bodyPr>
            <a:normAutofit/>
          </a:bodyPr>
          <a:lstStyle/>
          <a:p>
            <a:r>
              <a:rPr lang="en-US" dirty="0"/>
              <a:t>Handled missing values in Gender , Age , Payment Methods and Ratings.</a:t>
            </a:r>
          </a:p>
          <a:p>
            <a:r>
              <a:rPr lang="en-US" dirty="0"/>
              <a:t>Removed duplicate records to avoid skewed analysis.</a:t>
            </a:r>
          </a:p>
          <a:p>
            <a:r>
              <a:rPr lang="en-US" dirty="0"/>
              <a:t>Corrected data types and numeric columns to proper number types.</a:t>
            </a:r>
          </a:p>
          <a:p>
            <a:r>
              <a:rPr lang="en-US" dirty="0"/>
              <a:t>Detected and treated outliers in Sales and Profit using appropriate methods.</a:t>
            </a:r>
          </a:p>
          <a:p>
            <a:r>
              <a:rPr lang="en-US" dirty="0"/>
              <a:t>Standardized categories and region names for consistency.</a:t>
            </a:r>
          </a:p>
          <a:p>
            <a:r>
              <a:rPr lang="en-US" dirty="0"/>
              <a:t>Ensured overall data consistency for accurate reporting and insights.</a:t>
            </a:r>
          </a:p>
          <a:p>
            <a:endParaRPr lang="en-IN" dirty="0"/>
          </a:p>
        </p:txBody>
      </p:sp>
      <p:sp>
        <p:nvSpPr>
          <p:cNvPr id="6" name="Equals 5">
            <a:extLst>
              <a:ext uri="{FF2B5EF4-FFF2-40B4-BE49-F238E27FC236}">
                <a16:creationId xmlns:a16="http://schemas.microsoft.com/office/drawing/2014/main" id="{E9605300-A4F3-4582-EDEC-45085C40BBE9}"/>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74165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600C5-3A43-51B8-D86D-99D30DA75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4833B-5632-A06E-ED63-23930383E3AD}"/>
              </a:ext>
            </a:extLst>
          </p:cNvPr>
          <p:cNvSpPr>
            <a:spLocks noGrp="1"/>
          </p:cNvSpPr>
          <p:nvPr>
            <p:ph type="title"/>
          </p:nvPr>
        </p:nvSpPr>
        <p:spPr>
          <a:xfrm>
            <a:off x="746760" y="4590671"/>
            <a:ext cx="10515600" cy="2194960"/>
          </a:xfrm>
        </p:spPr>
        <p:txBody>
          <a:bodyPr>
            <a:normAutofit fontScale="90000"/>
          </a:bodyPr>
          <a:lstStyle/>
          <a:p>
            <a:r>
              <a:rPr lang="en-US" sz="2700" b="1" dirty="0">
                <a:latin typeface="+mn-lt"/>
              </a:rPr>
              <a:t>Observation :-</a:t>
            </a:r>
            <a:br>
              <a:rPr lang="en-US" sz="2400" b="1" dirty="0"/>
            </a:br>
            <a:r>
              <a:rPr lang="en-US" sz="2200" dirty="0"/>
              <a:t>- Product 918 Generated the highest revenue ( ₹162,629 ),followed closely by 463 and 251.</a:t>
            </a:r>
            <a:br>
              <a:rPr lang="en-US" sz="2200" dirty="0"/>
            </a:br>
            <a:r>
              <a:rPr lang="en-US" sz="2200" dirty="0"/>
              <a:t>- Sales across the top 10 products are fairly even, showing a balanced </a:t>
            </a:r>
            <a:r>
              <a:rPr lang="en-US" sz="2200" dirty="0" err="1"/>
              <a:t>performance,It</a:t>
            </a:r>
            <a:r>
              <a:rPr lang="en-US" sz="2200" dirty="0"/>
              <a:t> is Good for </a:t>
            </a:r>
            <a:r>
              <a:rPr lang="en-US" sz="2200" dirty="0" err="1"/>
              <a:t>Bussiness</a:t>
            </a:r>
            <a:r>
              <a:rPr lang="en-US" sz="2200" dirty="0"/>
              <a:t>.</a:t>
            </a:r>
            <a:br>
              <a:rPr lang="en-US" sz="2200" dirty="0"/>
            </a:br>
            <a:r>
              <a:rPr lang="en-US" sz="2200" dirty="0"/>
              <a:t>- Products 251 and 268 sold in high quantities, likely lower-priced, Popular items.- </a:t>
            </a:r>
            <a:br>
              <a:rPr lang="en-US" sz="2200" dirty="0"/>
            </a:br>
            <a:r>
              <a:rPr lang="en-US" sz="2200" dirty="0"/>
              <a:t>Product 918 generated strong revenue with moderate sales, suggesting it’s a premium item.</a:t>
            </a:r>
            <a:br>
              <a:rPr lang="en-US" sz="2200" dirty="0"/>
            </a:br>
            <a:r>
              <a:rPr lang="en-US" sz="2200" dirty="0"/>
              <a:t>- Recommendation: Keep a close eye on inventory for these key products to maintain revenue.</a:t>
            </a:r>
            <a:endParaRPr lang="en-IN" sz="2400" dirty="0"/>
          </a:p>
        </p:txBody>
      </p:sp>
      <p:pic>
        <p:nvPicPr>
          <p:cNvPr id="6" name="Content Placeholder 5">
            <a:extLst>
              <a:ext uri="{FF2B5EF4-FFF2-40B4-BE49-F238E27FC236}">
                <a16:creationId xmlns:a16="http://schemas.microsoft.com/office/drawing/2014/main" id="{386372B4-4F5C-563F-DF00-B8B1C4C3A7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1417" y="72369"/>
            <a:ext cx="9131545" cy="4518302"/>
          </a:xfrm>
        </p:spPr>
      </p:pic>
      <p:sp>
        <p:nvSpPr>
          <p:cNvPr id="5" name="Equals 4">
            <a:extLst>
              <a:ext uri="{FF2B5EF4-FFF2-40B4-BE49-F238E27FC236}">
                <a16:creationId xmlns:a16="http://schemas.microsoft.com/office/drawing/2014/main" id="{C2882696-1850-E66D-4441-4292079D2DFF}"/>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99326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C571-3B3C-2D0C-0895-00D796471F67}"/>
              </a:ext>
            </a:extLst>
          </p:cNvPr>
          <p:cNvSpPr>
            <a:spLocks noGrp="1"/>
          </p:cNvSpPr>
          <p:nvPr>
            <p:ph type="title"/>
          </p:nvPr>
        </p:nvSpPr>
        <p:spPr>
          <a:xfrm>
            <a:off x="618280" y="5019495"/>
            <a:ext cx="10515600" cy="1325563"/>
          </a:xfrm>
        </p:spPr>
        <p:txBody>
          <a:bodyPr>
            <a:noAutofit/>
          </a:bodyPr>
          <a:lstStyle/>
          <a:p>
            <a:r>
              <a:rPr lang="en-US" sz="2400" b="1" dirty="0">
                <a:latin typeface="+mn-lt"/>
              </a:rPr>
              <a:t>Observation:-</a:t>
            </a:r>
            <a:br>
              <a:rPr lang="en-US" sz="2000" dirty="0"/>
            </a:br>
            <a:r>
              <a:rPr lang="en-US" sz="2000" dirty="0"/>
              <a:t>- These products recorded the lowest total sales, indicating limited customer demand or low visibility.</a:t>
            </a:r>
            <a:br>
              <a:rPr lang="en-US" sz="2000" dirty="0"/>
            </a:br>
            <a:r>
              <a:rPr lang="en-US" sz="2000" dirty="0"/>
              <a:t>- Sales values are closely clustered, suggesting overall weak performance across all bottom products.</a:t>
            </a:r>
            <a:br>
              <a:rPr lang="en-US" sz="2000" dirty="0"/>
            </a:br>
            <a:r>
              <a:rPr lang="en-US" sz="2000" dirty="0"/>
              <a:t>- Some products show low quantity and low revenue, hinting at poor demand or discontinuation  potential.</a:t>
            </a:r>
            <a:br>
              <a:rPr lang="en-US" sz="2000" dirty="0"/>
            </a:br>
            <a:r>
              <a:rPr lang="en-US" sz="2000" dirty="0"/>
              <a:t>- Focus on identifying pricing, marketing, or stock issues for these products.</a:t>
            </a:r>
            <a:br>
              <a:rPr lang="en-US" sz="2000" dirty="0"/>
            </a:br>
            <a:r>
              <a:rPr lang="en-US" sz="2000" dirty="0"/>
              <a:t>- Recommendation: Consider promotional offers or product review to improve sales performance.</a:t>
            </a:r>
            <a:endParaRPr lang="en-IN" sz="2000" dirty="0"/>
          </a:p>
        </p:txBody>
      </p:sp>
      <p:pic>
        <p:nvPicPr>
          <p:cNvPr id="5" name="Content Placeholder 4">
            <a:extLst>
              <a:ext uri="{FF2B5EF4-FFF2-40B4-BE49-F238E27FC236}">
                <a16:creationId xmlns:a16="http://schemas.microsoft.com/office/drawing/2014/main" id="{7E5362C2-003A-0261-33D9-E7C790660C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7354" y="182020"/>
            <a:ext cx="8749780" cy="4517302"/>
          </a:xfrm>
        </p:spPr>
      </p:pic>
      <p:sp>
        <p:nvSpPr>
          <p:cNvPr id="7" name="Equals 6">
            <a:extLst>
              <a:ext uri="{FF2B5EF4-FFF2-40B4-BE49-F238E27FC236}">
                <a16:creationId xmlns:a16="http://schemas.microsoft.com/office/drawing/2014/main" id="{893EFBED-3CE8-70BD-47BF-5140803D8710}"/>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75368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4D90-87B3-200B-991F-981EFC9B5E31}"/>
              </a:ext>
            </a:extLst>
          </p:cNvPr>
          <p:cNvSpPr>
            <a:spLocks noGrp="1"/>
          </p:cNvSpPr>
          <p:nvPr>
            <p:ph type="title"/>
          </p:nvPr>
        </p:nvSpPr>
        <p:spPr>
          <a:xfrm>
            <a:off x="525682" y="4821378"/>
            <a:ext cx="10515600" cy="1325563"/>
          </a:xfrm>
        </p:spPr>
        <p:txBody>
          <a:bodyPr>
            <a:noAutofit/>
          </a:bodyPr>
          <a:lstStyle/>
          <a:p>
            <a:r>
              <a:rPr lang="en-US" sz="2400" b="1" dirty="0">
                <a:latin typeface="+mn-lt"/>
              </a:rPr>
              <a:t>Observation:-</a:t>
            </a:r>
            <a:br>
              <a:rPr lang="en-US" sz="1800" dirty="0"/>
            </a:br>
            <a:r>
              <a:rPr lang="en-US" sz="2000" dirty="0"/>
              <a:t>- Clothing leads all categories with the highest sales of ₹14.48M, followed closely by Groceries and Sports.</a:t>
            </a:r>
            <a:br>
              <a:rPr lang="en-US" sz="2000" dirty="0"/>
            </a:br>
            <a:r>
              <a:rPr lang="en-US" sz="2000" dirty="0"/>
              <a:t>- The sales gap among all six categories is minimal, showing a well-balanced product mix.</a:t>
            </a:r>
            <a:br>
              <a:rPr lang="en-US" sz="2000" dirty="0"/>
            </a:br>
            <a:r>
              <a:rPr lang="en-US" sz="2000" dirty="0"/>
              <a:t>- Clothing and Groceries have both high sales and quantity, reflecting strong, </a:t>
            </a:r>
            <a:r>
              <a:rPr lang="en-US" sz="2000" dirty="0" err="1"/>
              <a:t>consisten</a:t>
            </a:r>
            <a:r>
              <a:rPr lang="en-US" sz="2000" dirty="0"/>
              <a:t> demand.</a:t>
            </a:r>
            <a:br>
              <a:rPr lang="en-US" sz="2000" dirty="0"/>
            </a:br>
            <a:r>
              <a:rPr lang="en-US" sz="2000" dirty="0"/>
              <a:t>- Books and Furniture trail slightly but still maintain competitive sales, suggesting steady but moderate performance.</a:t>
            </a:r>
            <a:br>
              <a:rPr lang="en-US" sz="2000" dirty="0"/>
            </a:br>
            <a:r>
              <a:rPr lang="en-US" sz="2000" dirty="0"/>
              <a:t>- Overall, the business shows diversified strength across categories, minimizing dependency on any single segment.</a:t>
            </a:r>
            <a:endParaRPr lang="en-IN" sz="2000" dirty="0"/>
          </a:p>
        </p:txBody>
      </p:sp>
      <p:pic>
        <p:nvPicPr>
          <p:cNvPr id="5" name="Content Placeholder 4">
            <a:extLst>
              <a:ext uri="{FF2B5EF4-FFF2-40B4-BE49-F238E27FC236}">
                <a16:creationId xmlns:a16="http://schemas.microsoft.com/office/drawing/2014/main" id="{AC7BD57A-A036-0752-0657-A01ED5AB7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4756" y="-1"/>
            <a:ext cx="7977453" cy="4243991"/>
          </a:xfrm>
        </p:spPr>
      </p:pic>
      <p:sp>
        <p:nvSpPr>
          <p:cNvPr id="6" name="Equals 5">
            <a:extLst>
              <a:ext uri="{FF2B5EF4-FFF2-40B4-BE49-F238E27FC236}">
                <a16:creationId xmlns:a16="http://schemas.microsoft.com/office/drawing/2014/main" id="{FE7FC908-876A-0253-9F77-69ECCD197CFC}"/>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62000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8342-4DA1-ABCD-3854-8FE3CD1CBBB4}"/>
              </a:ext>
            </a:extLst>
          </p:cNvPr>
          <p:cNvSpPr>
            <a:spLocks noGrp="1"/>
          </p:cNvSpPr>
          <p:nvPr>
            <p:ph type="title"/>
          </p:nvPr>
        </p:nvSpPr>
        <p:spPr>
          <a:xfrm>
            <a:off x="583556" y="4925551"/>
            <a:ext cx="10515600" cy="1325563"/>
          </a:xfrm>
        </p:spPr>
        <p:txBody>
          <a:bodyPr>
            <a:noAutofit/>
          </a:bodyPr>
          <a:lstStyle/>
          <a:p>
            <a:r>
              <a:rPr lang="en-US" sz="2400" b="1" dirty="0">
                <a:latin typeface="+mn-lt"/>
              </a:rPr>
              <a:t>Observation:-</a:t>
            </a:r>
            <a:br>
              <a:rPr lang="en-US" sz="2000" dirty="0"/>
            </a:br>
            <a:r>
              <a:rPr lang="en-US" sz="2000" dirty="0"/>
              <a:t>- Chennai leads in total sales and transactions, indicating strong market demand.</a:t>
            </a:r>
            <a:br>
              <a:rPr lang="en-US" sz="2000" dirty="0"/>
            </a:br>
            <a:r>
              <a:rPr lang="en-US" sz="2000" dirty="0"/>
              <a:t>- Hyderabad and Delhi closely follow, showing consistent performance across top metros.</a:t>
            </a:r>
            <a:br>
              <a:rPr lang="en-US" sz="2000" dirty="0"/>
            </a:br>
            <a:r>
              <a:rPr lang="en-US" sz="2000" dirty="0"/>
              <a:t>- Overall sales across all six cities are very close, reflecting balanced regional distribution.</a:t>
            </a:r>
            <a:br>
              <a:rPr lang="en-US" sz="2000" dirty="0"/>
            </a:br>
            <a:r>
              <a:rPr lang="en-US" sz="2000" dirty="0"/>
              <a:t>- Average customer rating is 3 everywhere, suggesting moderate satisfaction and scope for improvement.</a:t>
            </a:r>
            <a:br>
              <a:rPr lang="en-US" sz="2000" dirty="0"/>
            </a:br>
            <a:r>
              <a:rPr lang="en-US" sz="2000" dirty="0"/>
              <a:t>- Focus on enhancing customer experience could help boost revenue further in all regions.</a:t>
            </a:r>
            <a:endParaRPr lang="en-IN" sz="2000" dirty="0"/>
          </a:p>
        </p:txBody>
      </p:sp>
      <p:pic>
        <p:nvPicPr>
          <p:cNvPr id="5" name="Content Placeholder 4">
            <a:extLst>
              <a:ext uri="{FF2B5EF4-FFF2-40B4-BE49-F238E27FC236}">
                <a16:creationId xmlns:a16="http://schemas.microsoft.com/office/drawing/2014/main" id="{C0BDE39A-7F3B-D575-6BD1-FCCA50A845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2630" y="-1"/>
            <a:ext cx="8900251" cy="4629873"/>
          </a:xfrm>
        </p:spPr>
      </p:pic>
      <p:sp>
        <p:nvSpPr>
          <p:cNvPr id="6" name="Equals 5">
            <a:extLst>
              <a:ext uri="{FF2B5EF4-FFF2-40B4-BE49-F238E27FC236}">
                <a16:creationId xmlns:a16="http://schemas.microsoft.com/office/drawing/2014/main" id="{DF795C91-FBC0-866D-A8A9-39130D43046F}"/>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254888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FDC1D-D219-3986-F8BA-8B8AC728650A}"/>
              </a:ext>
            </a:extLst>
          </p:cNvPr>
          <p:cNvSpPr>
            <a:spLocks noGrp="1"/>
          </p:cNvSpPr>
          <p:nvPr>
            <p:ph type="title"/>
          </p:nvPr>
        </p:nvSpPr>
        <p:spPr>
          <a:xfrm>
            <a:off x="1162292" y="5018150"/>
            <a:ext cx="10515600" cy="1046986"/>
          </a:xfrm>
        </p:spPr>
        <p:txBody>
          <a:bodyPr>
            <a:noAutofit/>
          </a:bodyPr>
          <a:lstStyle/>
          <a:p>
            <a:r>
              <a:rPr lang="en-US" sz="2400" b="1" dirty="0">
                <a:latin typeface="+mn-lt"/>
              </a:rPr>
              <a:t>Observation:-</a:t>
            </a:r>
            <a:br>
              <a:rPr lang="en-US" sz="2000" dirty="0"/>
            </a:br>
            <a:r>
              <a:rPr lang="en-US" sz="2000" dirty="0"/>
              <a:t>- Chennai leads with the highest units sold (16,118), showing strong product demand.</a:t>
            </a:r>
            <a:br>
              <a:rPr lang="en-US" sz="2000" dirty="0"/>
            </a:br>
            <a:r>
              <a:rPr lang="en-US" sz="2000" dirty="0"/>
              <a:t>- Kolkata and Bangalore follow closely, indicating steady customer activity in eastern and southern regions.</a:t>
            </a:r>
            <a:br>
              <a:rPr lang="en-US" sz="2000" dirty="0"/>
            </a:br>
            <a:r>
              <a:rPr lang="en-US" sz="2000" dirty="0"/>
              <a:t>- Hyderabad and Delhi show similar sales volumes, reflecting balanced performance across northern and central markets.</a:t>
            </a:r>
            <a:br>
              <a:rPr lang="en-US" sz="2000" dirty="0"/>
            </a:br>
            <a:r>
              <a:rPr lang="en-US" sz="2000" dirty="0"/>
              <a:t>- Mumbai has slightly lower units sold, suggesting potential to boost sales with targeted promotions.</a:t>
            </a:r>
            <a:br>
              <a:rPr lang="en-US" sz="2000" dirty="0"/>
            </a:br>
            <a:r>
              <a:rPr lang="en-US" sz="2000" dirty="0"/>
              <a:t>- Overall, all cities are performing consistently, highlighting a well-distributed sales network across key metro locations.</a:t>
            </a:r>
            <a:endParaRPr lang="en-IN" sz="2000" dirty="0"/>
          </a:p>
        </p:txBody>
      </p:sp>
      <p:pic>
        <p:nvPicPr>
          <p:cNvPr id="5" name="Content Placeholder 4">
            <a:extLst>
              <a:ext uri="{FF2B5EF4-FFF2-40B4-BE49-F238E27FC236}">
                <a16:creationId xmlns:a16="http://schemas.microsoft.com/office/drawing/2014/main" id="{3AC0BC29-C20A-1602-A19A-C6AF6EDBDC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0584" y="0"/>
            <a:ext cx="8749781" cy="4259484"/>
          </a:xfrm>
        </p:spPr>
      </p:pic>
      <p:sp>
        <p:nvSpPr>
          <p:cNvPr id="6" name="Equals 5">
            <a:extLst>
              <a:ext uri="{FF2B5EF4-FFF2-40B4-BE49-F238E27FC236}">
                <a16:creationId xmlns:a16="http://schemas.microsoft.com/office/drawing/2014/main" id="{740057DB-3454-C521-7D9C-3D92C547236F}"/>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994906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0608A-9162-BF38-4521-5359D551DB5C}"/>
              </a:ext>
            </a:extLst>
          </p:cNvPr>
          <p:cNvSpPr>
            <a:spLocks noGrp="1"/>
          </p:cNvSpPr>
          <p:nvPr>
            <p:ph type="title"/>
          </p:nvPr>
        </p:nvSpPr>
        <p:spPr>
          <a:xfrm>
            <a:off x="757177" y="4613034"/>
            <a:ext cx="10515600" cy="1834064"/>
          </a:xfrm>
        </p:spPr>
        <p:txBody>
          <a:bodyPr>
            <a:normAutofit fontScale="90000"/>
          </a:bodyPr>
          <a:lstStyle/>
          <a:p>
            <a:r>
              <a:rPr lang="en-US" sz="2200" b="1" dirty="0">
                <a:latin typeface="+mn-lt"/>
              </a:rPr>
              <a:t>Observation:-</a:t>
            </a:r>
            <a:br>
              <a:rPr lang="en-US" sz="2000" dirty="0"/>
            </a:br>
            <a:r>
              <a:rPr lang="en-US" sz="2200" dirty="0"/>
              <a:t>- Peak sales months: July, March, May, and January – strong seasonal demand in the first half of the year.</a:t>
            </a:r>
            <a:br>
              <a:rPr lang="en-US" sz="2200" dirty="0"/>
            </a:br>
            <a:r>
              <a:rPr lang="en-US" sz="2200" dirty="0"/>
              <a:t>- Moderate sales months: April, June, and August – stable, mid-range revenue.</a:t>
            </a:r>
            <a:br>
              <a:rPr lang="en-US" sz="2200" dirty="0"/>
            </a:br>
            <a:r>
              <a:rPr lang="en-US" sz="2200" dirty="0"/>
              <a:t>- Low sales months: September to December – noticeable decline, with December lower than expected.</a:t>
            </a:r>
            <a:br>
              <a:rPr lang="en-US" sz="2200" dirty="0"/>
            </a:br>
            <a:r>
              <a:rPr lang="en-US" sz="2200" dirty="0"/>
              <a:t>- Seasonal trend: Highest revenue occurs in the first half of the year; second half shows slower sales.</a:t>
            </a:r>
            <a:br>
              <a:rPr lang="en-US" sz="2200" dirty="0"/>
            </a:br>
            <a:r>
              <a:rPr lang="en-US" sz="2200" dirty="0"/>
              <a:t>- Business insight: Opportunities for targeted promotions, marketing campaigns, and inventory planning during low-performing months.</a:t>
            </a:r>
            <a:endParaRPr lang="en-IN" sz="2000" dirty="0"/>
          </a:p>
        </p:txBody>
      </p:sp>
      <p:pic>
        <p:nvPicPr>
          <p:cNvPr id="5" name="Content Placeholder 4">
            <a:extLst>
              <a:ext uri="{FF2B5EF4-FFF2-40B4-BE49-F238E27FC236}">
                <a16:creationId xmlns:a16="http://schemas.microsoft.com/office/drawing/2014/main" id="{3F83C124-772A-B38A-1EFA-4F6B993532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3639" y="135721"/>
            <a:ext cx="8702676" cy="4135337"/>
          </a:xfrm>
        </p:spPr>
      </p:pic>
      <p:sp>
        <p:nvSpPr>
          <p:cNvPr id="6" name="Equals 5">
            <a:extLst>
              <a:ext uri="{FF2B5EF4-FFF2-40B4-BE49-F238E27FC236}">
                <a16:creationId xmlns:a16="http://schemas.microsoft.com/office/drawing/2014/main" id="{0405DD8F-3923-EE92-F83F-3488A7157A99}"/>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335257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163A-8176-CB99-E010-1876CC5C9AB7}"/>
              </a:ext>
            </a:extLst>
          </p:cNvPr>
          <p:cNvSpPr>
            <a:spLocks noGrp="1"/>
          </p:cNvSpPr>
          <p:nvPr>
            <p:ph type="title"/>
          </p:nvPr>
        </p:nvSpPr>
        <p:spPr>
          <a:xfrm>
            <a:off x="86360" y="808990"/>
            <a:ext cx="10515600" cy="1325563"/>
          </a:xfrm>
        </p:spPr>
        <p:txBody>
          <a:bodyPr>
            <a:normAutofit/>
          </a:bodyPr>
          <a:lstStyle/>
          <a:p>
            <a:r>
              <a:rPr lang="en-US" sz="1800" dirty="0"/>
              <a:t> </a:t>
            </a:r>
            <a:br>
              <a:rPr lang="en-US" sz="1800" dirty="0"/>
            </a:br>
            <a:endParaRPr lang="en-IN" sz="1800" dirty="0"/>
          </a:p>
        </p:txBody>
      </p:sp>
      <p:sp>
        <p:nvSpPr>
          <p:cNvPr id="3" name="Content Placeholder 2">
            <a:extLst>
              <a:ext uri="{FF2B5EF4-FFF2-40B4-BE49-F238E27FC236}">
                <a16:creationId xmlns:a16="http://schemas.microsoft.com/office/drawing/2014/main" id="{3C3DE01C-B88A-5F5A-6546-C3536C42123C}"/>
              </a:ext>
            </a:extLst>
          </p:cNvPr>
          <p:cNvSpPr>
            <a:spLocks noGrp="1"/>
          </p:cNvSpPr>
          <p:nvPr>
            <p:ph idx="1"/>
          </p:nvPr>
        </p:nvSpPr>
        <p:spPr>
          <a:xfrm>
            <a:off x="579957" y="1071385"/>
            <a:ext cx="10515600" cy="5942145"/>
          </a:xfrm>
        </p:spPr>
        <p:txBody>
          <a:bodyPr>
            <a:normAutofit/>
          </a:bodyPr>
          <a:lstStyle/>
          <a:p>
            <a:pPr marL="0" indent="0">
              <a:buNone/>
            </a:pPr>
            <a:r>
              <a:rPr lang="en-US" sz="1600" b="1" dirty="0"/>
              <a:t>1. Product Strategy</a:t>
            </a:r>
            <a:endParaRPr lang="en-US" sz="1600" dirty="0"/>
          </a:p>
          <a:p>
            <a:r>
              <a:rPr lang="en-US" sz="1600" dirty="0"/>
              <a:t>Prioritize top products (918, 463, 251) — ensure stock &amp; promote aggressively.</a:t>
            </a:r>
          </a:p>
          <a:p>
            <a:r>
              <a:rPr lang="en-US" sz="1600" dirty="0"/>
              <a:t>Review bottom 10 products — reprice, bundle, or discontinue low performers.</a:t>
            </a:r>
          </a:p>
          <a:p>
            <a:r>
              <a:rPr lang="en-US" sz="1600" dirty="0"/>
              <a:t>Maintain mix of premium and high-volume items for balanced growth.</a:t>
            </a:r>
          </a:p>
          <a:p>
            <a:pPr marL="0" indent="0">
              <a:buNone/>
            </a:pPr>
            <a:r>
              <a:rPr lang="en-US" sz="1600" b="1" dirty="0"/>
              <a:t>2. Category Focus</a:t>
            </a:r>
            <a:endParaRPr lang="en-US" sz="1600" dirty="0"/>
          </a:p>
          <a:p>
            <a:r>
              <a:rPr lang="en-US" sz="1600" dirty="0"/>
              <a:t>Strengthen top categories: Clothing, Groceries, Sports — key revenue drivers.</a:t>
            </a:r>
          </a:p>
          <a:p>
            <a:r>
              <a:rPr lang="en-US" sz="1600" dirty="0"/>
              <a:t>Revive weak ones (Books, Furniture) via targeted offers or cross-selling.</a:t>
            </a:r>
          </a:p>
          <a:p>
            <a:pPr marL="0" indent="0">
              <a:buNone/>
            </a:pPr>
            <a:r>
              <a:rPr lang="en-US" sz="1600" b="1" dirty="0"/>
              <a:t>3. Regional Growth</a:t>
            </a:r>
            <a:endParaRPr lang="en-US" sz="1600" dirty="0"/>
          </a:p>
          <a:p>
            <a:r>
              <a:rPr lang="en-US" sz="1600" dirty="0"/>
              <a:t>Chennai, Hyderabad, Delhi: invest in promotions &amp; loyalty programs.</a:t>
            </a:r>
          </a:p>
          <a:p>
            <a:r>
              <a:rPr lang="en-US" sz="1600" dirty="0"/>
              <a:t>Improve customer experience — ratings of 3 suggest service quality upgrades needed.</a:t>
            </a:r>
          </a:p>
          <a:p>
            <a:pPr marL="0" indent="0">
              <a:buNone/>
            </a:pPr>
            <a:r>
              <a:rPr lang="en-US" sz="1600" b="1" dirty="0"/>
              <a:t>4. Seasonal Planning</a:t>
            </a:r>
            <a:endParaRPr lang="en-US" sz="1600" dirty="0"/>
          </a:p>
          <a:p>
            <a:r>
              <a:rPr lang="en-US" sz="1600" dirty="0"/>
              <a:t>Stock up &amp; run campaigns in Jan–July (peak months).</a:t>
            </a:r>
          </a:p>
          <a:p>
            <a:r>
              <a:rPr lang="en-US" sz="1600" dirty="0"/>
              <a:t>Boost Sep–Dec with festive sales and bundle offers to stabilize revenue.</a:t>
            </a:r>
          </a:p>
          <a:p>
            <a:pPr marL="0" indent="0">
              <a:buNone/>
            </a:pPr>
            <a:r>
              <a:rPr lang="en-US" sz="1600" b="1" dirty="0"/>
              <a:t>5. Marketing &amp; Operations</a:t>
            </a:r>
            <a:endParaRPr lang="en-US" sz="1600" dirty="0"/>
          </a:p>
          <a:p>
            <a:r>
              <a:rPr lang="en-US" sz="1600" dirty="0"/>
              <a:t>Use data-driven promotions &amp; dynamic pricing.</a:t>
            </a:r>
          </a:p>
          <a:p>
            <a:r>
              <a:rPr lang="en-US" sz="1600" dirty="0"/>
              <a:t>Optimize logistics to ensure fast delivery and consistent stock availability.</a:t>
            </a:r>
          </a:p>
          <a:p>
            <a:endParaRPr lang="en-IN" sz="1600" dirty="0"/>
          </a:p>
        </p:txBody>
      </p:sp>
      <p:sp>
        <p:nvSpPr>
          <p:cNvPr id="4" name="TextBox 3">
            <a:extLst>
              <a:ext uri="{FF2B5EF4-FFF2-40B4-BE49-F238E27FC236}">
                <a16:creationId xmlns:a16="http://schemas.microsoft.com/office/drawing/2014/main" id="{5451E885-3FB6-E91F-08ED-BAC288AC5014}"/>
              </a:ext>
            </a:extLst>
          </p:cNvPr>
          <p:cNvSpPr txBox="1"/>
          <p:nvPr/>
        </p:nvSpPr>
        <p:spPr>
          <a:xfrm>
            <a:off x="324091" y="416968"/>
            <a:ext cx="5289630" cy="523220"/>
          </a:xfrm>
          <a:prstGeom prst="rect">
            <a:avLst/>
          </a:prstGeom>
          <a:noFill/>
        </p:spPr>
        <p:txBody>
          <a:bodyPr wrap="square" rtlCol="0">
            <a:spAutoFit/>
          </a:bodyPr>
          <a:lstStyle/>
          <a:p>
            <a:r>
              <a:rPr lang="en-IN" sz="2800" b="1" dirty="0"/>
              <a:t>Business Recommendations :-</a:t>
            </a:r>
          </a:p>
        </p:txBody>
      </p:sp>
      <p:sp>
        <p:nvSpPr>
          <p:cNvPr id="5" name="Equals 4">
            <a:extLst>
              <a:ext uri="{FF2B5EF4-FFF2-40B4-BE49-F238E27FC236}">
                <a16:creationId xmlns:a16="http://schemas.microsoft.com/office/drawing/2014/main" id="{AA5626D3-895A-AC64-ADEF-3602CDBCCC11}"/>
              </a:ext>
            </a:extLst>
          </p:cNvPr>
          <p:cNvSpPr/>
          <p:nvPr/>
        </p:nvSpPr>
        <p:spPr>
          <a:xfrm rot="5400000">
            <a:off x="10591729" y="17299"/>
            <a:ext cx="1560798" cy="1138219"/>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448451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881</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 Antiqua</vt:lpstr>
      <vt:lpstr>Calibri</vt:lpstr>
      <vt:lpstr>Calibri Light</vt:lpstr>
      <vt:lpstr>Office Theme</vt:lpstr>
      <vt:lpstr>Retail Sales Analysis: Identifying Top Products and Market Patterns</vt:lpstr>
      <vt:lpstr>Bussines Problem :- </vt:lpstr>
      <vt:lpstr>Data Cleaning – </vt:lpstr>
      <vt:lpstr>Observation :- - Product 918 Generated the highest revenue ( ₹162,629 ),followed closely by 463 and 251. - Sales across the top 10 products are fairly even, showing a balanced performance,It is Good for Bussiness. - Products 251 and 268 sold in high quantities, likely lower-priced, Popular items.-  Product 918 generated strong revenue with moderate sales, suggesting it’s a premium item. - Recommendation: Keep a close eye on inventory for these key products to maintain revenue.</vt:lpstr>
      <vt:lpstr>Observation:- - These products recorded the lowest total sales, indicating limited customer demand or low visibility. - Sales values are closely clustered, suggesting overall weak performance across all bottom products. - Some products show low quantity and low revenue, hinting at poor demand or discontinuation  potential. - Focus on identifying pricing, marketing, or stock issues for these products. - Recommendation: Consider promotional offers or product review to improve sales performance.</vt:lpstr>
      <vt:lpstr>Observation:- - Clothing leads all categories with the highest sales of ₹14.48M, followed closely by Groceries and Sports. - The sales gap among all six categories is minimal, showing a well-balanced product mix. - Clothing and Groceries have both high sales and quantity, reflecting strong, consisten demand. - Books and Furniture trail slightly but still maintain competitive sales, suggesting steady but moderate performance. - Overall, the business shows diversified strength across categories, minimizing dependency on any single segment.</vt:lpstr>
      <vt:lpstr>Observation:- - Chennai leads in total sales and transactions, indicating strong market demand. - Hyderabad and Delhi closely follow, showing consistent performance across top metros. - Overall sales across all six cities are very close, reflecting balanced regional distribution. - Average customer rating is 3 everywhere, suggesting moderate satisfaction and scope for improvement. - Focus on enhancing customer experience could help boost revenue further in all regions.</vt:lpstr>
      <vt:lpstr>Observation:- - Chennai leads with the highest units sold (16,118), showing strong product demand. - Kolkata and Bangalore follow closely, indicating steady customer activity in eastern and southern regions. - Hyderabad and Delhi show similar sales volumes, reflecting balanced performance across northern and central markets. - Mumbai has slightly lower units sold, suggesting potential to boost sales with targeted promotions. - Overall, all cities are performing consistently, highlighting a well-distributed sales network across key metro locations.</vt:lpstr>
      <vt:lpstr>Observation:- - Peak sales months: July, March, May, and January – strong seasonal demand in the first half of the year. - Moderate sales months: April, June, and August – stable, mid-range revenue. - Low sales months: September to December – noticeable decline, with December lower than expected. - Seasonal trend: Highest revenue occurs in the first half of the year; second half shows slower sales. - Business insight: Opportunities for targeted promotions, marketing campaigns, and inventory planning during low-performing months.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DUKARE</dc:creator>
  <cp:lastModifiedBy>NITIN DUKARE</cp:lastModifiedBy>
  <cp:revision>2</cp:revision>
  <dcterms:created xsi:type="dcterms:W3CDTF">2025-11-08T20:26:00Z</dcterms:created>
  <dcterms:modified xsi:type="dcterms:W3CDTF">2025-11-09T12:11:37Z</dcterms:modified>
</cp:coreProperties>
</file>